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1" r:id="rId6"/>
    <p:sldId id="258" r:id="rId7"/>
    <p:sldId id="259" r:id="rId8"/>
    <p:sldId id="260" r:id="rId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path</c:v>
                </c:pt>
              </c:strCache>
            </c:strRef>
          </c:tx>
          <c:spPr>
            <a:ln w="38100" cap="flat" cmpd="sng" algn="ctr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 cmpd="sng" algn="ctr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rgbClr val="052A54"/>
                    </a:solidFill>
                    <a:latin typeface="Aptos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24</c:v>
                </c:pt>
                <c:pt idx="3">
                  <c:v>30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rgbClr val="000000"/>
                </a:solidFill>
                <a:latin typeface="Aptos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 cmpd="sng" algn="ctr">
              <a:solidFill>
                <a:srgbClr val="E5EC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rgbClr val="000000"/>
                </a:solidFill>
                <a:latin typeface="Aptos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10a5bc0-c5fd-4a2d-9e19-b7f158689d69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Posisikan Bank Raya sebagai mesin pertumbuhan digital BRI Group, bukan satu-satunya front door. Klaim utama: jangkauan BRI Group dikonversi menjadi relasi digital Bank Raya.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adalah anchor penilaian BOD. Jelaskan rantainya: fondasi teknologi bukan cost center; fondasi ini menciptakan kecepatan underwriting dan relevansi produk, lalu mendorong ekonomi bisnis.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urutan Buktikan &gt; Hubungkan &gt; Skalakan &gt; Monetisasi. Ini menghindari overcommit pada migrasi core tanpa evidence. Investasi teknologi digate oleh bukti product-market fit dan performa risiko.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Jangan overclaim bahwa Ceria dan Raya tidak overlap. Jawaban kredibel adalah segmentasi terkelola: Ceria transaction-led consumer financing; Raya account-led financial relationship untuk pekerja berpendapatan tidak tetap dan micro merchant.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melindungi dari challenge BOD. Pisahkan public proof points dari aspirational outcomes dan hindari klaim breakeven tanpa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7055" y="1471676"/>
            <a:ext cx="5943600" cy="1261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5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 Raya sebagai Mesin Pertumbuhan Digital bagi Pekerja Berpendapatan Tidak Tetap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3566160"/>
            <a:ext cx="5257800" cy="8229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</a:rPr>
              <a:t>Bank Raya tidak perlu mengejar gig worker dari nol. Keunggulannya adalah mengindustrialisasi aset BRI Group: jangkauan, kepercayaan, konteks transaksi, dan relasi pelaku usaha mikro.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566928" y="4754880"/>
            <a:ext cx="384048" cy="384048"/>
          </a:xfrm>
          <a:prstGeom prst="rect">
            <a:avLst/>
          </a:prstGeom>
          <a:solidFill>
            <a:srgbClr val="083B7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4727448"/>
            <a:ext cx="8961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F2937"/>
                </a:solidFill>
              </a:rPr>
              <a:t>Konversi</a:t>
            </a:r>
            <a:endParaRPr lang="en-US" sz="820" dirty="0"/>
          </a:p>
          <a:p>
            <a:pPr marL="0" indent="0">
              <a:buNone/>
            </a:pPr>
            <a:r>
              <a:rPr lang="en-US" sz="820" b="1" dirty="0">
                <a:solidFill>
                  <a:srgbClr val="1F2937"/>
                </a:solidFill>
              </a:rPr>
              <a:t>ekosistem BRI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984248" y="4754880"/>
            <a:ext cx="384048" cy="384048"/>
          </a:xfrm>
          <a:prstGeom prst="rect">
            <a:avLst/>
          </a:prstGeom>
          <a:solidFill>
            <a:srgbClr val="14B8C5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41448" y="4727448"/>
            <a:ext cx="8961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F2937"/>
                </a:solidFill>
              </a:rPr>
              <a:t>Kredit berbasis</a:t>
            </a:r>
            <a:endParaRPr lang="en-US" sz="820" dirty="0"/>
          </a:p>
          <a:p>
            <a:pPr marL="0" indent="0">
              <a:buNone/>
            </a:pPr>
            <a:r>
              <a:rPr lang="en-US" sz="820" b="1" dirty="0">
                <a:solidFill>
                  <a:srgbClr val="1F2937"/>
                </a:solidFill>
              </a:rPr>
              <a:t>arus pendapatan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3401568" y="4754880"/>
            <a:ext cx="384048" cy="384048"/>
          </a:xfrm>
          <a:prstGeom prst="rect">
            <a:avLst/>
          </a:prstGeom>
          <a:solidFill>
            <a:srgbClr val="FFB54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58768" y="4727448"/>
            <a:ext cx="8961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F2937"/>
                </a:solidFill>
              </a:rPr>
              <a:t>Tools arus kas</a:t>
            </a:r>
            <a:endParaRPr lang="en-US" sz="820" dirty="0"/>
          </a:p>
          <a:p>
            <a:pPr marL="0" indent="0">
              <a:buNone/>
            </a:pPr>
            <a:r>
              <a:rPr lang="en-US" sz="820" b="1" dirty="0">
                <a:solidFill>
                  <a:srgbClr val="1F2937"/>
                </a:solidFill>
              </a:rPr>
              <a:t>seller &amp; driver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818888" y="4754880"/>
            <a:ext cx="384048" cy="384048"/>
          </a:xfrm>
          <a:prstGeom prst="rect">
            <a:avLst/>
          </a:prstGeom>
          <a:solidFill>
            <a:srgbClr val="F9731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76088" y="4727448"/>
            <a:ext cx="8961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1F2937"/>
                </a:solidFill>
              </a:rPr>
              <a:t>Platform</a:t>
            </a:r>
            <a:endParaRPr lang="en-US" sz="820" dirty="0"/>
          </a:p>
          <a:p>
            <a:pPr marL="0" indent="0">
              <a:buNone/>
            </a:pPr>
            <a:r>
              <a:rPr lang="en-US" sz="820" b="1" dirty="0">
                <a:solidFill>
                  <a:srgbClr val="1F2937"/>
                </a:solidFill>
              </a:rPr>
              <a:t>komposable</a:t>
            </a:r>
            <a:endParaRPr lang="en-US" sz="820" dirty="0"/>
          </a:p>
        </p:txBody>
      </p:sp>
      <p:pic>
        <p:nvPicPr>
          <p:cNvPr id="15" name="Image 0" descr="/mnt/data/market_vendor_qris.jpg"/>
          <p:cNvPicPr>
            <a:picLocks noChangeAspect="1"/>
          </p:cNvPicPr>
          <p:nvPr/>
        </p:nvPicPr>
        <p:blipFill>
          <a:blip r:embed="rId1"/>
          <a:srcRect t="4545" b="4545"/>
          <a:stretch>
            <a:fillRect/>
          </a:stretch>
        </p:blipFill>
        <p:spPr>
          <a:xfrm>
            <a:off x="6903720" y="411480"/>
            <a:ext cx="4526280" cy="2743200"/>
          </a:xfrm>
          <a:prstGeom prst="rect">
            <a:avLst/>
          </a:prstGeom>
        </p:spPr>
      </p:pic>
      <p:pic>
        <p:nvPicPr>
          <p:cNvPr id="16" name="Image 1" descr="/mnt/data/ojol_driver_smartphone.jpg"/>
          <p:cNvPicPr>
            <a:picLocks noChangeAspect="1"/>
          </p:cNvPicPr>
          <p:nvPr/>
        </p:nvPicPr>
        <p:blipFill>
          <a:blip r:embed="rId2"/>
          <a:srcRect l="21515" r="21515"/>
          <a:stretch>
            <a:fillRect/>
          </a:stretch>
        </p:blipFill>
        <p:spPr>
          <a:xfrm>
            <a:off x="6903720" y="3364992"/>
            <a:ext cx="2148840" cy="2514600"/>
          </a:xfrm>
          <a:prstGeom prst="rect">
            <a:avLst/>
          </a:prstGeom>
        </p:spPr>
      </p:pic>
      <p:pic>
        <p:nvPicPr>
          <p:cNvPr id="17" name="Image 2" descr="/mnt/data/qris_market_vendor_detik.jpg"/>
          <p:cNvPicPr>
            <a:picLocks noChangeAspect="1"/>
          </p:cNvPicPr>
          <p:nvPr/>
        </p:nvPicPr>
        <p:blipFill>
          <a:blip r:embed="rId3"/>
          <a:srcRect l="25890" r="25890"/>
          <a:stretch>
            <a:fillRect/>
          </a:stretch>
        </p:blipFill>
        <p:spPr>
          <a:xfrm>
            <a:off x="9281160" y="3364992"/>
            <a:ext cx="2148840" cy="2514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6062472"/>
            <a:ext cx="4526280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52A54"/>
                </a:solidFill>
              </a:rPr>
              <a:t>Pekerja digital = pendapatan tidak tetap, transaksi harian, dan ketergantungan pada ekosistem</a:t>
            </a:r>
            <a:endParaRPr lang="en-US" sz="920" dirty="0"/>
          </a:p>
        </p:txBody>
      </p:sp>
      <p:sp>
        <p:nvSpPr>
          <p:cNvPr id="19" name="Text 14"/>
          <p:cNvSpPr/>
          <p:nvPr/>
        </p:nvSpPr>
        <p:spPr>
          <a:xfrm>
            <a:off x="502920" y="6510528"/>
            <a:ext cx="102412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" dirty="0">
                <a:solidFill>
                  <a:srgbClr val="8A98AA"/>
                </a:solidFill>
              </a:rPr>
              <a:t>Visual: ilustrasi kontekstual publik; framing strategi untuk diskusi.</a:t>
            </a:r>
            <a:endParaRPr lang="en-US" sz="580" dirty="0"/>
          </a:p>
        </p:txBody>
      </p:sp>
      <p:sp>
        <p:nvSpPr>
          <p:cNvPr id="20" name="Text 15"/>
          <p:cNvSpPr/>
          <p:nvPr/>
        </p:nvSpPr>
        <p:spPr>
          <a:xfrm>
            <a:off x="11045952" y="6446520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12064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5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Peta Strategi Enterprise IT &amp; Digital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207008"/>
            <a:ext cx="10744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64748B"/>
                </a:solidFill>
              </a:rPr>
              <a:t>Baca dari bawah ke atas: kapabilitas fondasi menciptakan visibilitas pendapatan, meningkatkan relevansi produk, lalu mendorong pertumbuhan revenue.</a:t>
            </a:r>
            <a:endParaRPr lang="en-US" sz="1180" dirty="0"/>
          </a:p>
        </p:txBody>
      </p:sp>
      <p:sp>
        <p:nvSpPr>
          <p:cNvPr id="6" name="Shape 4"/>
          <p:cNvSpPr/>
          <p:nvPr/>
        </p:nvSpPr>
        <p:spPr>
          <a:xfrm>
            <a:off x="1371600" y="4160520"/>
            <a:ext cx="0" cy="448056"/>
          </a:xfrm>
          <a:prstGeom prst="line">
            <a:avLst/>
          </a:prstGeom>
          <a:noFill/>
          <a:ln w="17780">
            <a:solidFill>
              <a:srgbClr val="D9E3F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3154680"/>
            <a:ext cx="0" cy="448056"/>
          </a:xfrm>
          <a:prstGeom prst="line">
            <a:avLst/>
          </a:prstGeom>
          <a:noFill/>
          <a:ln w="17780">
            <a:solidFill>
              <a:srgbClr val="D9E3F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71600" y="2148840"/>
            <a:ext cx="0" cy="448056"/>
          </a:xfrm>
          <a:prstGeom prst="line">
            <a:avLst/>
          </a:prstGeom>
          <a:noFill/>
          <a:ln w="17780">
            <a:solidFill>
              <a:srgbClr val="D9E3F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1856232"/>
            <a:ext cx="1508760" cy="438912"/>
          </a:xfrm>
          <a:prstGeom prst="rect">
            <a:avLst/>
          </a:prstGeom>
          <a:solidFill>
            <a:srgbClr val="083B7A"/>
          </a:solidFill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FINANSIAL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331720" y="1783080"/>
            <a:ext cx="2487168" cy="640080"/>
          </a:xfrm>
          <a:prstGeom prst="rect">
            <a:avLst/>
          </a:prstGeom>
          <a:solidFill>
            <a:srgbClr val="EAF1FF"/>
          </a:solidFill>
          <a:ln>
            <a:solidFill>
              <a:srgbClr val="FFFFFF">
                <a:alpha val="0"/>
              </a:srgbClr>
            </a:solidFill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</a:rPr>
              <a:t>Meningkatkan pendapatan ekosistem &amp; transaksi berulang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239512" y="1783080"/>
            <a:ext cx="2487168" cy="640080"/>
          </a:xfrm>
          <a:prstGeom prst="rect">
            <a:avLst/>
          </a:prstGeom>
          <a:solidFill>
            <a:srgbClr val="EAF1FF"/>
          </a:solidFill>
          <a:ln>
            <a:solidFill>
              <a:srgbClr val="FFFFFF">
                <a:alpha val="0"/>
              </a:srgbClr>
            </a:solidFill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</a:rPr>
              <a:t>Menurunkan biaya akuisisi melalui jangkauan ekosistem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8147304" y="1783080"/>
            <a:ext cx="2487168" cy="640080"/>
          </a:xfrm>
          <a:prstGeom prst="rect">
            <a:avLst/>
          </a:prstGeom>
          <a:solidFill>
            <a:srgbClr val="EAF1FF"/>
          </a:solidFill>
          <a:ln>
            <a:solidFill>
              <a:srgbClr val="FFFFFF">
                <a:alpha val="0"/>
              </a:srgbClr>
            </a:solidFill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</a:rPr>
              <a:t>Menaikkan lifetime value nasabah referral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2862072"/>
            <a:ext cx="1508760" cy="438912"/>
          </a:xfrm>
          <a:prstGeom prst="rect">
            <a:avLst/>
          </a:prstGeom>
          <a:solidFill>
            <a:srgbClr val="14B8C5"/>
          </a:solidFill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CUSTOMER &amp;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EKOSISTEM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331720" y="2788920"/>
            <a:ext cx="2487168" cy="640080"/>
          </a:xfrm>
          <a:prstGeom prst="rect">
            <a:avLst/>
          </a:prstGeom>
          <a:solidFill>
            <a:srgbClr val="E4FBFD"/>
          </a:solidFill>
          <a:ln>
            <a:solidFill>
              <a:srgbClr val="FFFFFF">
                <a:alpha val="0"/>
              </a:srgbClr>
            </a:solidFill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</a:rPr>
              <a:t>Memberikan kredit berbasis arus kas yang terbukti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239512" y="2788920"/>
            <a:ext cx="2487168" cy="640080"/>
          </a:xfrm>
          <a:prstGeom prst="rect">
            <a:avLst/>
          </a:prstGeom>
          <a:solidFill>
            <a:srgbClr val="E4FBFD"/>
          </a:solidFill>
          <a:ln>
            <a:solidFill>
              <a:srgbClr val="FFFFFF">
                <a:alpha val="0"/>
              </a:srgbClr>
            </a:solidFill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</a:rPr>
              <a:t>Menjadi rekening operasional bagi seller mikro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8147304" y="2788920"/>
            <a:ext cx="2487168" cy="640080"/>
          </a:xfrm>
          <a:prstGeom prst="rect">
            <a:avLst/>
          </a:prstGeom>
          <a:solidFill>
            <a:srgbClr val="E4FBFD"/>
          </a:solidFill>
          <a:ln>
            <a:solidFill>
              <a:srgbClr val="FFFFFF">
                <a:alpha val="0"/>
              </a:srgbClr>
            </a:solidFill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</a:rPr>
              <a:t>Mengonversi relasi ekosistem BRI menjadi relasi Raya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66928" y="3867912"/>
            <a:ext cx="1508760" cy="438912"/>
          </a:xfrm>
          <a:prstGeom prst="rect">
            <a:avLst/>
          </a:prstGeom>
          <a:solidFill>
            <a:srgbClr val="FFB547"/>
          </a:solidFill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PROSES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INTERNAL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331720" y="3794760"/>
            <a:ext cx="2487168" cy="640080"/>
          </a:xfrm>
          <a:prstGeom prst="rect">
            <a:avLst/>
          </a:prstGeom>
          <a:solidFill>
            <a:srgbClr val="FFF3D8"/>
          </a:solidFill>
          <a:ln>
            <a:solidFill>
              <a:srgbClr val="FFFFFF">
                <a:alpha val="0"/>
              </a:srgbClr>
            </a:solidFill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</a:rPr>
              <a:t>Pengembangan Engine Credit Scoring yang Komprehensif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239512" y="3794760"/>
            <a:ext cx="2487168" cy="640080"/>
          </a:xfrm>
          <a:prstGeom prst="rect">
            <a:avLst/>
          </a:prstGeom>
          <a:solidFill>
            <a:srgbClr val="FFF3D8"/>
          </a:solidFill>
          <a:ln>
            <a:solidFill>
              <a:srgbClr val="FFFFFF">
                <a:alpha val="0"/>
              </a:srgbClr>
            </a:solidFill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</a:rPr>
              <a:t>Mendeteksi fraud tanpa menghambat onboarding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8147304" y="3794760"/>
            <a:ext cx="2487168" cy="640080"/>
          </a:xfrm>
          <a:prstGeom prst="rect">
            <a:avLst/>
          </a:prstGeom>
          <a:solidFill>
            <a:srgbClr val="FFF3D8"/>
          </a:solidFill>
          <a:ln>
            <a:solidFill>
              <a:srgbClr val="FFFFFF">
                <a:alpha val="0"/>
              </a:srgbClr>
            </a:solidFill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</a:rPr>
              <a:t>Mengintegrasikan partner tanpa mengganggu core process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66928" y="4873752"/>
            <a:ext cx="1508760" cy="438912"/>
          </a:xfrm>
          <a:prstGeom prst="rect">
            <a:avLst/>
          </a:prstGeom>
          <a:solidFill>
            <a:srgbClr val="F97316"/>
          </a:solidFill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LEARNING &amp;</a:t>
            </a:r>
            <a:endParaRPr lang="en-US" sz="88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FOUNDATION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2331720" y="4800600"/>
            <a:ext cx="2487168" cy="640080"/>
          </a:xfrm>
          <a:prstGeom prst="rect">
            <a:avLst/>
          </a:prstGeom>
          <a:solidFill>
            <a:srgbClr val="FFF1E8"/>
          </a:solidFill>
          <a:ln>
            <a:solidFill>
              <a:srgbClr val="FFFFFF">
                <a:alpha val="0"/>
              </a:srgbClr>
            </a:solidFill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</a:rPr>
              <a:t>Membangun orkestrasi data ekosistem berbasis consent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239512" y="4800600"/>
            <a:ext cx="2487168" cy="640080"/>
          </a:xfrm>
          <a:prstGeom prst="rect">
            <a:avLst/>
          </a:prstGeom>
          <a:solidFill>
            <a:srgbClr val="FFF1E8"/>
          </a:solidFill>
          <a:ln>
            <a:solidFill>
              <a:srgbClr val="FFFFFF">
                <a:alpha val="0"/>
              </a:srgbClr>
            </a:solidFill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</a:rPr>
              <a:t>Memisahkan layanan melalui API &amp; event architecture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147304" y="4800600"/>
            <a:ext cx="2487168" cy="640080"/>
          </a:xfrm>
          <a:prstGeom prst="rect">
            <a:avLst/>
          </a:prstGeom>
          <a:solidFill>
            <a:srgbClr val="FFF1E8"/>
          </a:solidFill>
          <a:ln>
            <a:solidFill>
              <a:srgbClr val="FFFFFF">
                <a:alpha val="0"/>
              </a:srgbClr>
            </a:solidFill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2937"/>
                </a:solidFill>
              </a:rPr>
              <a:t>Membangun talenta paham ekonomi pendapatan tidak tetap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11045952" y="6446520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02920" y="603504"/>
            <a:ext cx="8412480" cy="384048"/>
          </a:xfrm>
          <a:prstGeom prst="rect">
            <a:avLst/>
          </a:prstGeom>
          <a:noFill/>
        </p:spPr>
        <p:txBody>
          <a:bodyPr wrap="none" lIns="45720" tIns="28575" rIns="45720" bIns="28575" anchor="t">
            <a:spAutoFit/>
          </a:bodyPr>
          <a:lstStyle/>
          <a:p>
            <a:pPr algn="l"/>
            <a:r>
              <a:rPr sz="1850" b="1">
                <a:solidFill>
                  <a:srgbClr val="09234B"/>
                </a:solidFill>
                <a:latin typeface="Aptos"/>
              </a:rPr>
              <a:t>KPI Strategis &amp; Target Simulasi 2026–2029</a:t>
            </a:r>
            <a:endParaRPr sz="1850" b="1">
              <a:solidFill>
                <a:srgbClr val="09234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241280" cy="228600"/>
          </a:xfrm>
          <a:prstGeom prst="rect">
            <a:avLst/>
          </a:prstGeom>
          <a:noFill/>
        </p:spPr>
        <p:txBody>
          <a:bodyPr wrap="none" lIns="45720" tIns="28575" rIns="45720" bIns="28575" anchor="t">
            <a:spAutoFit/>
          </a:bodyPr>
          <a:lstStyle/>
          <a:p>
            <a:pPr algn="l"/>
            <a:r>
              <a:rPr sz="760" b="0">
                <a:solidFill>
                  <a:srgbClr val="687589"/>
                </a:solidFill>
                <a:latin typeface="Aptos"/>
              </a:rPr>
              <a:t>Angka dibuat lebih terukur sebagai baseline simulasi; target final tetap perlu dikunci setelah pilot dan validasi data internal.</a:t>
            </a:r>
            <a:endParaRPr sz="760" b="0">
              <a:solidFill>
                <a:srgbClr val="687589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183112" cy="9144"/>
          </a:xfrm>
          <a:prstGeom prst="rect">
            <a:avLst/>
          </a:prstGeom>
          <a:solidFill>
            <a:srgbClr val="DA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1572768" cy="457200"/>
          </a:xfrm>
          <a:prstGeom prst="rect">
            <a:avLst/>
          </a:prstGeom>
          <a:solidFill>
            <a:srgbClr val="09234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426464"/>
            <a:ext cx="1463040" cy="347472"/>
          </a:xfrm>
          <a:prstGeom prst="rect">
            <a:avLst/>
          </a:prstGeom>
          <a:noFill/>
        </p:spPr>
        <p:txBody>
          <a:bodyPr wrap="none" lIns="45720" tIns="28575" rIns="45720" bIns="28575" anchor="ctr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Aptos"/>
              </a:rPr>
              <a:t>Perspektif</a:t>
            </a:r>
            <a:endParaRPr sz="86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75688" y="1353312"/>
            <a:ext cx="2834640" cy="457200"/>
          </a:xfrm>
          <a:prstGeom prst="rect">
            <a:avLst/>
          </a:prstGeom>
          <a:solidFill>
            <a:srgbClr val="09234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426464"/>
            <a:ext cx="2724912" cy="347472"/>
          </a:xfrm>
          <a:prstGeom prst="rect">
            <a:avLst/>
          </a:prstGeom>
          <a:noFill/>
        </p:spPr>
        <p:txBody>
          <a:bodyPr wrap="none" lIns="45720" tIns="28575" rIns="45720" bIns="28575" anchor="ctr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Aptos"/>
              </a:rPr>
              <a:t>Objective Strategis</a:t>
            </a:r>
            <a:endParaRPr sz="86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10328" y="1353312"/>
            <a:ext cx="3246120" cy="457200"/>
          </a:xfrm>
          <a:prstGeom prst="rect">
            <a:avLst/>
          </a:prstGeom>
          <a:solidFill>
            <a:srgbClr val="09234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426464"/>
            <a:ext cx="3136391" cy="347472"/>
          </a:xfrm>
          <a:prstGeom prst="rect">
            <a:avLst/>
          </a:prstGeom>
          <a:noFill/>
        </p:spPr>
        <p:txBody>
          <a:bodyPr wrap="none" lIns="45720" tIns="28575" rIns="45720" bIns="28575" anchor="ctr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Aptos"/>
              </a:rPr>
              <a:t>KPI Simulasi yang Terukur</a:t>
            </a:r>
            <a:endParaRPr sz="86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156448" y="1353312"/>
            <a:ext cx="3529584" cy="457200"/>
          </a:xfrm>
          <a:prstGeom prst="rect">
            <a:avLst/>
          </a:prstGeom>
          <a:solidFill>
            <a:srgbClr val="09234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426464"/>
            <a:ext cx="3419856" cy="347472"/>
          </a:xfrm>
          <a:prstGeom prst="rect">
            <a:avLst/>
          </a:prstGeom>
          <a:noFill/>
        </p:spPr>
        <p:txBody>
          <a:bodyPr wrap="none" lIns="45720" tIns="28575" rIns="45720" bIns="28575" anchor="ctr">
            <a:spAutoFit/>
          </a:bodyPr>
          <a:lstStyle/>
          <a:p>
            <a:pPr algn="l"/>
            <a:r>
              <a:rPr sz="860" b="1">
                <a:solidFill>
                  <a:srgbClr val="FFFFFF"/>
                </a:solidFill>
                <a:latin typeface="Aptos"/>
              </a:rPr>
              <a:t>Inisiatif Teknologi / Enabler</a:t>
            </a:r>
            <a:endParaRPr sz="86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1810512"/>
            <a:ext cx="1572768" cy="1033271"/>
          </a:xfrm>
          <a:prstGeom prst="rect">
            <a:avLst/>
          </a:prstGeom>
          <a:solidFill>
            <a:srgbClr val="B9CFEE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75688" y="1810512"/>
            <a:ext cx="2834640" cy="1033271"/>
          </a:xfrm>
          <a:prstGeom prst="rect">
            <a:avLst/>
          </a:prstGeom>
          <a:solidFill>
            <a:srgbClr val="FFFFFF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0328" y="1810512"/>
            <a:ext cx="3246120" cy="1033271"/>
          </a:xfrm>
          <a:prstGeom prst="rect">
            <a:avLst/>
          </a:prstGeom>
          <a:solidFill>
            <a:srgbClr val="FFFFFF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810512"/>
            <a:ext cx="3529584" cy="1033271"/>
          </a:xfrm>
          <a:prstGeom prst="rect">
            <a:avLst/>
          </a:prstGeom>
          <a:solidFill>
            <a:srgbClr val="FFFFFF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901952"/>
            <a:ext cx="1408176" cy="886967"/>
          </a:xfrm>
          <a:prstGeom prst="rect">
            <a:avLst/>
          </a:prstGeom>
          <a:noFill/>
        </p:spPr>
        <p:txBody>
          <a:bodyPr wrap="none" lIns="45720" tIns="28575" rIns="45720" bIns="28575" anchor="t">
            <a:spAutoFit/>
          </a:bodyPr>
          <a:lstStyle/>
          <a:p>
            <a:pPr algn="l"/>
            <a:r>
              <a:rPr sz="880" b="1">
                <a:solidFill>
                  <a:srgbClr val="09234B"/>
                </a:solidFill>
                <a:latin typeface="Aptos"/>
              </a:rPr>
              <a:t>Keuangan</a:t>
            </a:r>
            <a:endParaRPr sz="880" b="1">
              <a:solidFill>
                <a:srgbClr val="09234B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57730" y="1874520"/>
            <a:ext cx="2699385" cy="433705"/>
          </a:xfrm>
          <a:prstGeom prst="rect">
            <a:avLst/>
          </a:prstGeom>
          <a:noFill/>
        </p:spPr>
        <p:txBody>
          <a:bodyPr wrap="square" lIns="45720" tIns="28575" rIns="45720" bIns="28575" anchor="t">
            <a:spAutoFit/>
          </a:bodyPr>
          <a:lstStyle/>
          <a:p>
            <a:pPr algn="l">
              <a:lnSpc>
                <a:spcPct val="84000"/>
              </a:lnSpc>
            </a:pPr>
            <a:r>
              <a:rPr sz="730" b="0">
                <a:solidFill>
                  <a:srgbClr val="1F2937"/>
                </a:solidFill>
                <a:latin typeface="Aptos"/>
              </a:rPr>
              <a:t>1. Menurunkan biaya akuisisi dan biaya layanan nasabah ekosistem
2. Meningkatkan pendapatan fee dan ekosistem</a:t>
            </a:r>
            <a:endParaRPr sz="730" b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83480" y="1883410"/>
            <a:ext cx="2957830" cy="590550"/>
          </a:xfrm>
          <a:prstGeom prst="rect">
            <a:avLst/>
          </a:prstGeom>
          <a:noFill/>
        </p:spPr>
        <p:txBody>
          <a:bodyPr wrap="none" lIns="54864" tIns="22860" rIns="36576" bIns="13716" anchor="t">
            <a:noAutofit/>
          </a:bodyPr>
          <a:lstStyle/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CAC ekosistem: Rp30 rb → ≤Rp18 rb/nasabah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Fee &amp; ecosystem income: 12% → 30%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83664"/>
            <a:ext cx="3410712" cy="923543"/>
          </a:xfrm>
          <a:prstGeom prst="rect">
            <a:avLst/>
          </a:prstGeom>
          <a:noFill/>
        </p:spPr>
        <p:txBody>
          <a:bodyPr wrap="none" lIns="54864" tIns="22860" rIns="36576" bIns="13716" anchor="t">
            <a:spAutoFit/>
          </a:bodyPr>
          <a:lstStyle/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Agent onboarding kit: 3 → 50 hub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Profitability dashboard per segmen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API monetisasi fee/referral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843784"/>
            <a:ext cx="1572768" cy="1033271"/>
          </a:xfrm>
          <a:prstGeom prst="rect">
            <a:avLst/>
          </a:prstGeom>
          <a:solidFill>
            <a:srgbClr val="E5F7F8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75688" y="2843784"/>
            <a:ext cx="2834640" cy="1033271"/>
          </a:xfrm>
          <a:prstGeom prst="rect">
            <a:avLst/>
          </a:prstGeom>
          <a:solidFill>
            <a:srgbClr val="FFFFFF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10328" y="2843784"/>
            <a:ext cx="3246120" cy="1033271"/>
          </a:xfrm>
          <a:prstGeom prst="rect">
            <a:avLst/>
          </a:prstGeom>
          <a:solidFill>
            <a:srgbClr val="FFFFFF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6448" y="2843784"/>
            <a:ext cx="3529584" cy="1033271"/>
          </a:xfrm>
          <a:prstGeom prst="rect">
            <a:avLst/>
          </a:prstGeom>
          <a:solidFill>
            <a:srgbClr val="FFFFFF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935224"/>
            <a:ext cx="1408176" cy="886967"/>
          </a:xfrm>
          <a:prstGeom prst="rect">
            <a:avLst/>
          </a:prstGeom>
          <a:noFill/>
        </p:spPr>
        <p:txBody>
          <a:bodyPr wrap="none" lIns="45720" tIns="28575" rIns="45720" bIns="28575" anchor="t">
            <a:spAutoFit/>
          </a:bodyPr>
          <a:lstStyle/>
          <a:p>
            <a:pPr algn="l"/>
            <a:r>
              <a:rPr sz="880" b="1">
                <a:solidFill>
                  <a:srgbClr val="09234B"/>
                </a:solidFill>
                <a:latin typeface="Aptos"/>
              </a:rPr>
              <a:t>Pelanggan &amp;
Ekosistem</a:t>
            </a:r>
            <a:endParaRPr sz="880" b="1">
              <a:solidFill>
                <a:srgbClr val="09234B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57730" y="2907665"/>
            <a:ext cx="2697480" cy="433705"/>
          </a:xfrm>
          <a:prstGeom prst="rect">
            <a:avLst/>
          </a:prstGeom>
          <a:noFill/>
        </p:spPr>
        <p:txBody>
          <a:bodyPr wrap="square" lIns="45720" tIns="28575" rIns="45720" bIns="28575" anchor="t">
            <a:spAutoFit/>
          </a:bodyPr>
          <a:lstStyle/>
          <a:p>
            <a:pPr algn="l">
              <a:lnSpc>
                <a:spcPct val="84000"/>
              </a:lnSpc>
            </a:pPr>
            <a:r>
              <a:rPr sz="730" b="0">
                <a:solidFill>
                  <a:srgbClr val="1F2937"/>
                </a:solidFill>
                <a:latin typeface="Aptos"/>
              </a:rPr>
              <a:t>1. Menjadi rekening operasional pekerja digital dan merchant mikro
2. Memberi kredit berbasis arus kas nyata</a:t>
            </a:r>
            <a:endParaRPr sz="730" b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83480" y="2916936"/>
            <a:ext cx="3127248" cy="923543"/>
          </a:xfrm>
          <a:prstGeom prst="rect">
            <a:avLst/>
          </a:prstGeom>
          <a:noFill/>
        </p:spPr>
        <p:txBody>
          <a:bodyPr wrap="none" lIns="54864" tIns="22860" rIns="36576" bIns="13716" anchor="t">
            <a:spAutoFit/>
          </a:bodyPr>
          <a:lstStyle/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Akun aktif gig/seller: 80 rb → 500 rb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Approval p95: 10 menit → ≤30 detik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Referral conversion: 8% → ≥25%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16936"/>
            <a:ext cx="3410712" cy="923543"/>
          </a:xfrm>
          <a:prstGeom prst="rect">
            <a:avLst/>
          </a:prstGeom>
          <a:noFill/>
        </p:spPr>
        <p:txBody>
          <a:bodyPr wrap="none" lIns="54864" tIns="22860" rIns="36576" bIns="13716" anchor="t">
            <a:spAutoFit/>
          </a:bodyPr>
          <a:lstStyle/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Income API: 1 → 5 partner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Dashboard cash-flow merchant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Embedded banking journey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877056"/>
            <a:ext cx="1572768" cy="1033271"/>
          </a:xfrm>
          <a:prstGeom prst="rect">
            <a:avLst/>
          </a:prstGeom>
          <a:solidFill>
            <a:srgbClr val="FFF0D8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75688" y="3877056"/>
            <a:ext cx="2834640" cy="1033271"/>
          </a:xfrm>
          <a:prstGeom prst="rect">
            <a:avLst/>
          </a:prstGeom>
          <a:solidFill>
            <a:srgbClr val="FFFFFF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10328" y="3877056"/>
            <a:ext cx="3246120" cy="1033271"/>
          </a:xfrm>
          <a:prstGeom prst="rect">
            <a:avLst/>
          </a:prstGeom>
          <a:solidFill>
            <a:srgbClr val="FFFFFF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56448" y="3877056"/>
            <a:ext cx="3529584" cy="1033271"/>
          </a:xfrm>
          <a:prstGeom prst="rect">
            <a:avLst/>
          </a:prstGeom>
          <a:solidFill>
            <a:srgbClr val="FFFFFF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968496"/>
            <a:ext cx="1408176" cy="886967"/>
          </a:xfrm>
          <a:prstGeom prst="rect">
            <a:avLst/>
          </a:prstGeom>
          <a:noFill/>
        </p:spPr>
        <p:txBody>
          <a:bodyPr wrap="none" lIns="45720" tIns="28575" rIns="45720" bIns="28575" anchor="t">
            <a:spAutoFit/>
          </a:bodyPr>
          <a:lstStyle/>
          <a:p>
            <a:pPr algn="l"/>
            <a:r>
              <a:rPr sz="880" b="1">
                <a:solidFill>
                  <a:srgbClr val="09234B"/>
                </a:solidFill>
                <a:latin typeface="Aptos"/>
              </a:rPr>
              <a:t>Proses
Internal</a:t>
            </a:r>
            <a:endParaRPr sz="880" b="1">
              <a:solidFill>
                <a:srgbClr val="09234B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57984" y="3941064"/>
            <a:ext cx="2697480" cy="941831"/>
          </a:xfrm>
          <a:prstGeom prst="rect">
            <a:avLst/>
          </a:prstGeom>
          <a:noFill/>
        </p:spPr>
        <p:txBody>
          <a:bodyPr wrap="none" lIns="45720" tIns="28575" rIns="45720" bIns="28575" anchor="t">
            <a:spAutoFit/>
          </a:bodyPr>
          <a:lstStyle/>
          <a:p>
            <a:pPr algn="l">
              <a:lnSpc>
                <a:spcPct val="84000"/>
              </a:lnSpc>
            </a:pPr>
            <a:r>
              <a:rPr sz="730" b="0">
                <a:solidFill>
                  <a:srgbClr val="1F2937"/>
                </a:solidFill>
                <a:latin typeface="Aptos"/>
              </a:rPr>
              <a:t>1. Memverifikasi pendapatan variabel secara cepat dan aman
2. Mengendalikan fraud tanpa memperlambat pengguna valid</a:t>
            </a:r>
            <a:endParaRPr sz="730" b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83480" y="3950208"/>
            <a:ext cx="1630045" cy="343535"/>
          </a:xfrm>
          <a:prstGeom prst="rect">
            <a:avLst/>
          </a:prstGeom>
          <a:noFill/>
        </p:spPr>
        <p:txBody>
          <a:bodyPr wrap="none" lIns="54864" tIns="22860" rIns="36576" bIns="13716" anchor="t">
            <a:spAutoFit/>
          </a:bodyPr>
          <a:lstStyle/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</a:t>
            </a:r>
            <a:r>
              <a:rPr lang="en-US"/>
              <a:t>Segment </a:t>
            </a:r>
            <a:r>
              <a:t>kredit digital: 45% → ≥85%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DPD</a:t>
            </a:r>
            <a:r>
              <a:rPr lang="en-US"/>
              <a:t> </a:t>
            </a:r>
            <a:r>
              <a:t>30+ portofolio baru: ≤4,5%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API uptime ≥99,90%; error ≤0,50%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950208"/>
            <a:ext cx="3410712" cy="923543"/>
          </a:xfrm>
          <a:prstGeom prst="rect">
            <a:avLst/>
          </a:prstGeom>
          <a:noFill/>
        </p:spPr>
        <p:txBody>
          <a:bodyPr wrap="none" lIns="54864" tIns="22860" rIns="36576" bIns="13716" anchor="t">
            <a:spAutoFit/>
          </a:bodyPr>
          <a:lstStyle/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Alternative scoring engine v1→v3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Consent + identity orchestration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Risk monitoring dashboard 24x7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910327"/>
            <a:ext cx="1572768" cy="1033271"/>
          </a:xfrm>
          <a:prstGeom prst="rect">
            <a:avLst/>
          </a:prstGeom>
          <a:solidFill>
            <a:srgbClr val="EDF2F8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75688" y="4910327"/>
            <a:ext cx="2834640" cy="1033271"/>
          </a:xfrm>
          <a:prstGeom prst="rect">
            <a:avLst/>
          </a:prstGeom>
          <a:solidFill>
            <a:srgbClr val="FFFFFF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10328" y="4910327"/>
            <a:ext cx="3246120" cy="1033271"/>
          </a:xfrm>
          <a:prstGeom prst="rect">
            <a:avLst/>
          </a:prstGeom>
          <a:solidFill>
            <a:srgbClr val="FFFFFF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56448" y="4910327"/>
            <a:ext cx="3529584" cy="1033271"/>
          </a:xfrm>
          <a:prstGeom prst="rect">
            <a:avLst/>
          </a:prstGeom>
          <a:solidFill>
            <a:srgbClr val="FFFFFF"/>
          </a:solidFill>
          <a:ln w="508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001767"/>
            <a:ext cx="1408176" cy="886967"/>
          </a:xfrm>
          <a:prstGeom prst="rect">
            <a:avLst/>
          </a:prstGeom>
          <a:noFill/>
        </p:spPr>
        <p:txBody>
          <a:bodyPr wrap="none" lIns="45720" tIns="28575" rIns="45720" bIns="28575" anchor="t">
            <a:spAutoFit/>
          </a:bodyPr>
          <a:lstStyle/>
          <a:p>
            <a:pPr algn="l"/>
            <a:r>
              <a:rPr sz="880" b="1">
                <a:solidFill>
                  <a:srgbClr val="09234B"/>
                </a:solidFill>
                <a:latin typeface="Aptos"/>
              </a:rPr>
              <a:t>Pembelajaran &amp;
Fondasi</a:t>
            </a:r>
            <a:endParaRPr sz="880" b="1">
              <a:solidFill>
                <a:srgbClr val="09234B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157984" y="4974336"/>
            <a:ext cx="2697480" cy="941831"/>
          </a:xfrm>
          <a:prstGeom prst="rect">
            <a:avLst/>
          </a:prstGeom>
          <a:noFill/>
        </p:spPr>
        <p:txBody>
          <a:bodyPr wrap="none" lIns="45720" tIns="28575" rIns="45720" bIns="28575" anchor="t">
            <a:spAutoFit/>
          </a:bodyPr>
          <a:lstStyle/>
          <a:p>
            <a:pPr algn="l">
              <a:lnSpc>
                <a:spcPct val="84000"/>
              </a:lnSpc>
            </a:pPr>
            <a:r>
              <a:rPr sz="730" b="0">
                <a:solidFill>
                  <a:srgbClr val="1F2937"/>
                </a:solidFill>
                <a:latin typeface="Aptos"/>
              </a:rPr>
              <a:t>1. Membangun data ekosistem berbasis consent
2. Mempercepat integrasi partner tanpa membebani core</a:t>
            </a:r>
            <a:endParaRPr sz="730" b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983480" y="4983479"/>
            <a:ext cx="1788795" cy="343535"/>
          </a:xfrm>
          <a:prstGeom prst="rect">
            <a:avLst/>
          </a:prstGeom>
          <a:noFill/>
        </p:spPr>
        <p:txBody>
          <a:bodyPr wrap="none" lIns="54864" tIns="22860" rIns="36576" bIns="13716" anchor="t">
            <a:spAutoFit/>
          </a:bodyPr>
          <a:lstStyle/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</a:t>
            </a:r>
            <a:r>
              <a:rPr lang="en-US"/>
              <a:t>Meningkatkan Awareness </a:t>
            </a:r>
            <a:r>
              <a:t>: 20% → ≥70%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Lead time integrasi: 12 → ≤6 minggu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API reuse: 30% → ≥65%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983479"/>
            <a:ext cx="3410712" cy="923543"/>
          </a:xfrm>
          <a:prstGeom prst="rect">
            <a:avLst/>
          </a:prstGeom>
          <a:noFill/>
        </p:spPr>
        <p:txBody>
          <a:bodyPr wrap="none" lIns="54864" tIns="22860" rIns="36576" bIns="13716" anchor="t">
            <a:spAutoFit/>
          </a:bodyPr>
          <a:lstStyle/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Consented data layer + catalog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API gateway &amp; event platform</a:t>
            </a:r>
          </a:p>
          <a:p>
            <a:pPr>
              <a:lnSpc>
                <a:spcPct val="88000"/>
              </a:lnSpc>
              <a:spcAft>
                <a:spcPts val="60"/>
              </a:spcAft>
              <a:defRPr sz="720">
                <a:solidFill>
                  <a:srgbClr val="1F2937"/>
                </a:solidFill>
                <a:latin typeface="Aptos"/>
              </a:defRPr>
            </a:pPr>
            <a:r>
              <a:t>• Observability critical service 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6629400"/>
            <a:ext cx="685800" cy="128016"/>
          </a:xfrm>
          <a:prstGeom prst="rect">
            <a:avLst/>
          </a:prstGeom>
          <a:noFill/>
        </p:spPr>
        <p:txBody>
          <a:bodyPr wrap="none" lIns="45720" tIns="28575" rIns="45720" bIns="28575" anchor="t">
            <a:spAutoFit/>
          </a:bodyPr>
          <a:lstStyle/>
          <a:p>
            <a:pPr algn="r"/>
            <a:r>
              <a:rPr sz="540" b="0">
                <a:solidFill>
                  <a:srgbClr val="687589"/>
                </a:solidFill>
                <a:latin typeface="Aptos"/>
              </a:rPr>
              <a:t>3 / 6</a:t>
            </a:r>
            <a:endParaRPr sz="540" b="0">
              <a:solidFill>
                <a:srgbClr val="68758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12064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5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Teknologi Strategis &amp; Prioritas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207008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Logika roadmap: buktikan tesis ekosistem lebih dulu, lalu skalakan kapabilitas platform setelah conversion dan sinyal risiko tervalidasi.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43000" y="2139696"/>
            <a:ext cx="9875520" cy="0"/>
          </a:xfrm>
          <a:prstGeom prst="line">
            <a:avLst/>
          </a:prstGeom>
          <a:noFill/>
          <a:ln w="27940">
            <a:solidFill>
              <a:srgbClr val="D9E3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52144" y="173736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3B7A"/>
                </a:solidFill>
              </a:rPr>
              <a:t>2026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17904" y="2057400"/>
            <a:ext cx="164592" cy="164592"/>
          </a:xfrm>
          <a:prstGeom prst="ellipse">
            <a:avLst/>
          </a:prstGeom>
          <a:solidFill>
            <a:srgbClr val="083B7A"/>
          </a:solidFill>
          <a:ln w="12700">
            <a:solidFill>
              <a:srgbClr val="083B7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2240280"/>
            <a:ext cx="1600200" cy="301752"/>
          </a:xfrm>
          <a:prstGeom prst="rect">
            <a:avLst/>
          </a:prstGeom>
          <a:solidFill>
            <a:srgbClr val="083B7A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BUKTIKAN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804672" y="274320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Pilot konversi Agen ke Raya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318211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Pilot 1 partner sinyal pendapatan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04672" y="3621024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MVP dashboard arus kas seller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04672" y="4059936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Blueprint consent &amp; data governance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41064" y="173736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C5"/>
                </a:solidFill>
              </a:rPr>
              <a:t>2027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06824" y="2057400"/>
            <a:ext cx="164592" cy="164592"/>
          </a:xfrm>
          <a:prstGeom prst="ellipse">
            <a:avLst/>
          </a:prstGeom>
          <a:solidFill>
            <a:srgbClr val="14B8C5"/>
          </a:solidFill>
          <a:ln w="12700">
            <a:solidFill>
              <a:srgbClr val="14B8C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593592" y="2240280"/>
            <a:ext cx="1600200" cy="301752"/>
          </a:xfrm>
          <a:prstGeom prst="rect">
            <a:avLst/>
          </a:prstGeom>
          <a:solidFill>
            <a:srgbClr val="14B8C5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HUBUNGKAN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3593592" y="274320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Orkestrasi data ekosistem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93592" y="318211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API gateway partner + event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93592" y="3621024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Engine underwriting pendapatan tidak tetap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93592" y="4059936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Monitoring fraud/risk otomatis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29984" y="173736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547"/>
                </a:solidFill>
              </a:rPr>
              <a:t>2028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095744" y="2057400"/>
            <a:ext cx="164592" cy="164592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2512" y="2240280"/>
            <a:ext cx="1600200" cy="301752"/>
          </a:xfrm>
          <a:prstGeom prst="rect">
            <a:avLst/>
          </a:prstGeom>
          <a:solidFill>
            <a:srgbClr val="FFB547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SKALAKAN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6382512" y="274320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Sinyal pendapatan multi-platform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82512" y="318211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Journey embedded working capital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82512" y="3621024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Proposisi arus kas personal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82512" y="4059936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Onboarding ekosistem straight-through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518904" y="173736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2029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884664" y="2057400"/>
            <a:ext cx="164592" cy="16459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171432" y="2240280"/>
            <a:ext cx="1600200" cy="301752"/>
          </a:xfrm>
          <a:prstGeom prst="rect">
            <a:avLst/>
          </a:prstGeom>
          <a:solidFill>
            <a:srgbClr val="F97316"/>
          </a:solidFill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MONETISASI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9171432" y="2743200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Marketplace finansial ekosistem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171432" y="3182112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Paket layanan merchant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171432" y="3621024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Engine next-best-product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171432" y="4059936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• Open ecosystem partner platform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045952" y="6446520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12064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5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Faktor Risiko Utama &amp; Mitigasi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207008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Risiko berikut bukan risiko IT generik. Ini risiko spesifik ketika Bank Raya mengandalkan data ekosistem grup dan sinyal platform pihak ketiga.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475488" cy="411480"/>
          </a:xfrm>
          <a:prstGeom prst="rect">
            <a:avLst/>
          </a:prstGeom>
          <a:solidFill>
            <a:srgbClr val="083B7A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81051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052A54"/>
                </a:solidFill>
              </a:rPr>
              <a:t>Tata kelola data ekosistem</a:t>
            </a:r>
            <a:endParaRPr lang="en-US" sz="1360" dirty="0"/>
          </a:p>
        </p:txBody>
      </p:sp>
      <p:sp>
        <p:nvSpPr>
          <p:cNvPr id="8" name="Text 6"/>
          <p:cNvSpPr/>
          <p:nvPr/>
        </p:nvSpPr>
        <p:spPr>
          <a:xfrm>
            <a:off x="658368" y="239572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83B7A"/>
                </a:solidFill>
              </a:rPr>
              <a:t>RISIKO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658368" y="2615184"/>
            <a:ext cx="3044952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Penggunaan data lintas entitas dapat memunculkan isu consent, batas tujuan penggunaan, ownership, dan auditability.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3675888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83B7A"/>
                </a:solidFill>
              </a:rPr>
              <a:t>MITIGASI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658368" y="3913632"/>
            <a:ext cx="306324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937"/>
                </a:solidFill>
              </a:rPr>
              <a:t>Consent eksplisit per use case · data minimization · akses berbasis tujuan · lifecycle consent yang auditable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425696" y="1783080"/>
            <a:ext cx="475488" cy="411480"/>
          </a:xfrm>
          <a:prstGeom prst="rect">
            <a:avLst/>
          </a:prstGeom>
          <a:solidFill>
            <a:srgbClr val="FFB547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65776" y="181051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052A54"/>
                </a:solidFill>
              </a:rPr>
              <a:t>Volatilitas kredit alternatif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4425696" y="239572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B547"/>
                </a:solidFill>
              </a:rPr>
              <a:t>RISIKO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425696" y="2615184"/>
            <a:ext cx="3044952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Pendapatan gig dapat berubah mendadak akibat perubahan fee, insentif, atau algoritma platform partner.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25696" y="3675888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B547"/>
                </a:solidFill>
              </a:rPr>
              <a:t>MITIGASI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425696" y="3913632"/>
            <a:ext cx="306324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937"/>
                </a:solidFill>
              </a:rPr>
              <a:t>Gabungkan beberapa sinyal pendapatan · buffer konservatif · recalibration model · override rule untuk anomali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193024" y="1783080"/>
            <a:ext cx="475488" cy="411480"/>
          </a:xfrm>
          <a:prstGeom prst="rect">
            <a:avLst/>
          </a:prstGeom>
          <a:solidFill>
            <a:srgbClr val="F9731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33104" y="181051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052A54"/>
                </a:solidFill>
              </a:rPr>
              <a:t>Ketergantungan platform</a:t>
            </a:r>
            <a:endParaRPr lang="en-US" sz="1360" dirty="0"/>
          </a:p>
        </p:txBody>
      </p:sp>
      <p:sp>
        <p:nvSpPr>
          <p:cNvPr id="20" name="Text 18"/>
          <p:cNvSpPr/>
          <p:nvPr/>
        </p:nvSpPr>
        <p:spPr>
          <a:xfrm>
            <a:off x="8193024" y="239572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97316"/>
                </a:solidFill>
              </a:rPr>
              <a:t>RISIKO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193024" y="2615184"/>
            <a:ext cx="3044952" cy="749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</a:rPr>
              <a:t>Verifikasi pendapatan dan journey merchant dapat bergantung pada API yang tidak dikontrol Bank Raya.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193024" y="3675888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97316"/>
                </a:solidFill>
              </a:rPr>
              <a:t>MITIGASI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8193024" y="3913632"/>
            <a:ext cx="306324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F2937"/>
                </a:solidFill>
              </a:rPr>
              <a:t>Integrasi partner redundan · fallback verifikasi manual · circuit breaker · SLA dan klausul change-notice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58368" y="5358384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C5"/>
                </a:solidFill>
              </a:rPr>
              <a:t>Batas produk dengan Ceria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71800" y="5321808"/>
            <a:ext cx="56692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52A54"/>
                </a:solidFill>
              </a:rPr>
              <a:t>Ceria membiayai transaksi. Raya membiayai aktivitas ekonomi nasabah.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011680" y="5779008"/>
            <a:ext cx="7818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1F2937"/>
                </a:solidFill>
              </a:rPr>
              <a:t>Kebutuhan governance: tetapkan peran portofolio, eligibility logic, dan offer hierarchy agar overlap produk menjadi segmentasi terkelola, bukan kanibalisasi.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1045952" y="6446520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12064"/>
            <a:ext cx="932688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5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ROI Bisnis &amp; Outcome Finansial yang Diharapkan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9E3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207008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Frame ROI sebagai opsi yang tervalidasi: gunakan basis yang sudah terbukti untuk pilot, lalu scale investment setelah ekonomi konversi terbukti.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175564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40" b="1" dirty="0">
                <a:solidFill>
                  <a:srgbClr val="052A54"/>
                </a:solidFill>
              </a:rPr>
              <a:t>Basis ekosistem yang sudah terbukti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658368" y="233172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3B7A"/>
                </a:solidFill>
              </a:rPr>
              <a:t>&gt;1Jt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58368" y="271576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Nasabah digital / pengguna Raya App yang dilaporkan publik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58368" y="333756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4B8C5"/>
                </a:solidFill>
              </a:rPr>
              <a:t>~46Rb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8368" y="37216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AgenBRILink &amp; Agen Gadai dilayani Pinang Dana Talangan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58368" y="4343400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97316"/>
                </a:solidFill>
              </a:rPr>
              <a:t>&gt;1,2Jt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8368" y="472744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Jaringan AgenBRILink yang dilaporkan BRI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063240" y="1865376"/>
            <a:ext cx="0" cy="4114800"/>
          </a:xfrm>
          <a:prstGeom prst="line">
            <a:avLst/>
          </a:prstGeom>
          <a:noFill/>
          <a:ln w="15240">
            <a:solidFill>
              <a:srgbClr val="D9E3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29000" y="17556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2A54"/>
                </a:solidFill>
              </a:rPr>
              <a:t>Target outcome 2029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83B7A"/>
                </a:solidFill>
              </a:rPr>
              <a:t>25–30%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29000" y="2715768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Kontribusi pendapatan ekosistem &amp; fee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126480" y="233172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4B8C5"/>
                </a:solidFill>
              </a:rPr>
              <a:t>30–40%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26480" y="2715768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Penurunan biaya akuisisi pada kanal ekosistem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3429000" y="35661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B547"/>
                </a:solidFill>
              </a:rPr>
              <a:t>300–500Rb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29000" y="3950208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Relasi micro‑merchant aktif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6126480" y="356616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</a:rPr>
              <a:t>20–25%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26480" y="3950208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Konversi eligible ecosystem ke Bank Raya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8732520" y="17556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052A54"/>
                </a:solidFill>
              </a:rPr>
              <a:t>Porsi pendapatan fee &amp; ekosistem</a:t>
            </a:r>
            <a:endParaRPr lang="en-US" sz="152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8732520" y="2240280"/>
          <a:ext cx="2651760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3429000" y="4965192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C5"/>
                </a:solidFill>
              </a:rPr>
              <a:t>Logika investment gate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230368" y="4901184"/>
            <a:ext cx="61722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Tahun 1 membuktikan ekonomi konversi. Tahun 2 menskalakan konektivitas partner. Tahun 3 memonetisasi traffic ekosistem melalui layanan fee-based dan kredit produktif.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3429000" y="5623560"/>
            <a:ext cx="749808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97316"/>
                </a:solidFill>
              </a:rPr>
              <a:t>Penting: jangan klaim payback sebelum asumsi investment, CAC, activation, loss rate, dan lifetime value dimodelkan.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11045952" y="6446520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5785</Words>
  <Application>WPS Presentation</Application>
  <PresentationFormat>On-screen Show (16:9)</PresentationFormat>
  <Paragraphs>280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Aptos Display</vt:lpstr>
      <vt:lpstr>Segoe UI Variable Display</vt:lpstr>
      <vt:lpstr>Aptos Display</vt:lpstr>
      <vt:lpstr>Aptos Display</vt:lpstr>
      <vt:lpstr>Aptos</vt:lpstr>
      <vt:lpstr>Segoe UI</vt:lpstr>
      <vt:lpstr>Microsoft YaHei</vt:lpstr>
      <vt:lpstr>Arial Unicode MS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Bank Raya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 Digital Bank Raya 2026-2029</dc:title>
  <dc:creator>OpenAI</dc:creator>
  <dc:subject>Strategi Digital Bank Raya</dc:subject>
  <cp:lastModifiedBy>Satriadinata</cp:lastModifiedBy>
  <cp:revision>4</cp:revision>
  <dcterms:created xsi:type="dcterms:W3CDTF">2026-08-10T04:40:00Z</dcterms:created>
  <dcterms:modified xsi:type="dcterms:W3CDTF">2026-08-11T07:10:18Z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DC34536D11F6440994978FDC1E2A95F7_12</vt:lpwstr>
  </property>
  <property fmtid="{D5CDD505-2E9C-101B-9397-08002B2CF9AE}" pid="3" name="KSOProductBuildVer">
    <vt:lpwstr>1033-12.1.0.28032</vt:lpwstr>
  </property>
</Properties>
</file>